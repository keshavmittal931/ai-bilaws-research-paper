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1"/>
  </p:notesMasterIdLst>
  <p:handoutMasterIdLst>
    <p:handoutMasterId r:id="rId22"/>
  </p:handoutMasterIdLst>
  <p:sldIdLst>
    <p:sldId id="256" r:id="rId5"/>
    <p:sldId id="283" r:id="rId6"/>
    <p:sldId id="257" r:id="rId7"/>
    <p:sldId id="271" r:id="rId8"/>
    <p:sldId id="282" r:id="rId9"/>
    <p:sldId id="273" r:id="rId10"/>
    <p:sldId id="272" r:id="rId11"/>
    <p:sldId id="276" r:id="rId12"/>
    <p:sldId id="281" r:id="rId13"/>
    <p:sldId id="277" r:id="rId14"/>
    <p:sldId id="275" r:id="rId15"/>
    <p:sldId id="274" r:id="rId16"/>
    <p:sldId id="278" r:id="rId17"/>
    <p:sldId id="279" r:id="rId18"/>
    <p:sldId id="280" r:id="rId19"/>
    <p:sldId id="268" r:id="rId20"/>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707"/>
  </p:normalViewPr>
  <p:slideViewPr>
    <p:cSldViewPr snapToGrid="0">
      <p:cViewPr>
        <p:scale>
          <a:sx n="94" d="100"/>
          <a:sy n="94" d="100"/>
        </p:scale>
        <p:origin x="2184" y="64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4/29/26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4/29/26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a:solidFill>
                  <a:srgbClr val="000000"/>
                </a:solidFill>
                <a:latin typeface="Calibri"/>
                <a:ea typeface="MS PGothic"/>
              </a:rPr>
              <a:t>Click to edit Master text styles</a:t>
            </a:r>
            <a:endParaRPr lang="en-US" sz="3200" b="0" strike="noStrike" spc="-1">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a:solidFill>
                  <a:srgbClr val="000000"/>
                </a:solidFill>
                <a:latin typeface="Calibri"/>
                <a:ea typeface="MS PGothic"/>
              </a:rPr>
              <a:t>Second level</a:t>
            </a:r>
            <a:endParaRPr lang="en-US" sz="2800" b="0" strike="noStrike" spc="-1">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a:solidFill>
                  <a:srgbClr val="000000"/>
                </a:solidFill>
                <a:latin typeface="Calibri"/>
                <a:ea typeface="MS PGothic"/>
              </a:rPr>
              <a:t>Third level</a:t>
            </a:r>
            <a:endParaRPr lang="en-US" sz="2400" b="0" strike="noStrike" spc="-1">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Fourth level</a:t>
            </a:r>
            <a:endParaRPr lang="en-US" sz="2000" b="0" strike="noStrike" spc="-1">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a:solidFill>
                  <a:srgbClr val="000000"/>
                </a:solidFill>
                <a:latin typeface="Calibri"/>
                <a:ea typeface="MS PGothic"/>
              </a:rPr>
              <a:t>Fifth level</a:t>
            </a:r>
            <a:endParaRPr lang="en-US" sz="2000" b="0" strike="noStrike" spc="-1">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AF8DB620-2583-475D-9F87-055691DC1B89}" type="datetime1">
              <a:rPr lang="en-US" sz="1200" b="0" strike="noStrike" spc="-1" smtClean="0">
                <a:latin typeface="Times New Roman"/>
              </a:rPr>
              <a:t>4/29/26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endParaRPr lang="en-GB" sz="2400" b="0" strike="noStrike" spc="-1">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717485"/>
          </a:xfrm>
          <a:prstGeom prst="rect">
            <a:avLst/>
          </a:prstGeom>
          <a:noFill/>
          <a:ln w="9360">
            <a:noFill/>
          </a:ln>
        </p:spPr>
        <p:txBody>
          <a:bodyPr numCol="1">
            <a:noAutofit/>
          </a:bodyPr>
          <a:lstStyle/>
          <a:p>
            <a:pPr algn="ctr">
              <a:lnSpc>
                <a:spcPct val="100000"/>
              </a:lnSpc>
              <a:spcBef>
                <a:spcPts val="400"/>
              </a:spcBef>
            </a:pPr>
            <a:r>
              <a:rPr lang="en-IN"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dirty="0">
                <a:latin typeface="Times New Roman" panose="02020603050405020304" pitchFamily="18" charset="0"/>
                <a:ea typeface="Calibri" panose="020F0502020204030204" pitchFamily="34" charset="0"/>
                <a:cs typeface="Times New Roman" panose="02020603050405020304" pitchFamily="18" charset="0"/>
              </a:rPr>
              <a:t>Co-Op Project at Industry (Module-2) (22CS421) </a:t>
            </a:r>
            <a:endParaRPr lang="en-IN"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spcBef>
                <a:spcPts val="400"/>
              </a:spcBef>
            </a:pPr>
            <a:r>
              <a:rPr lang="en-IN" sz="4000" i="0" dirty="0">
                <a:effectLst/>
                <a:latin typeface="ui-sans-serif"/>
              </a:rPr>
              <a:t>AI Bylaws: A Framework for Ethical Governance</a:t>
            </a: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spcBef>
                <a:spcPts val="400"/>
              </a:spcBef>
            </a:pP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spcBef>
                <a:spcPts val="400"/>
              </a:spcBef>
            </a:pPr>
            <a:r>
              <a:rPr lang="en-IN" sz="2000" i="0" dirty="0" err="1">
                <a:solidFill>
                  <a:srgbClr val="1F1F1F"/>
                </a:solidFill>
                <a:effectLst/>
                <a:latin typeface="Times New Roman" panose="02020603050405020304" pitchFamily="18" charset="0"/>
                <a:cs typeface="Times New Roman" panose="02020603050405020304" pitchFamily="18" charset="0"/>
              </a:rPr>
              <a:t>Dr.</a:t>
            </a:r>
            <a:r>
              <a:rPr lang="en-IN" sz="2000" i="0" dirty="0">
                <a:solidFill>
                  <a:srgbClr val="1F1F1F"/>
                </a:solidFill>
                <a:effectLst/>
                <a:latin typeface="Times New Roman" panose="02020603050405020304" pitchFamily="18" charset="0"/>
                <a:cs typeface="Times New Roman" panose="02020603050405020304" pitchFamily="18" charset="0"/>
              </a:rPr>
              <a:t> </a:t>
            </a:r>
            <a:r>
              <a:rPr lang="en-IN" sz="2000" i="0" dirty="0" err="1">
                <a:solidFill>
                  <a:srgbClr val="1F1F1F"/>
                </a:solidFill>
                <a:effectLst/>
                <a:latin typeface="Times New Roman" panose="02020603050405020304" pitchFamily="18" charset="0"/>
                <a:cs typeface="Times New Roman" panose="02020603050405020304" pitchFamily="18" charset="0"/>
              </a:rPr>
              <a:t>Simarjit</a:t>
            </a:r>
            <a:r>
              <a:rPr lang="en-IN" sz="2000" i="0" dirty="0">
                <a:solidFill>
                  <a:srgbClr val="1F1F1F"/>
                </a:solidFill>
                <a:effectLst/>
                <a:latin typeface="Times New Roman" panose="02020603050405020304" pitchFamily="18" charset="0"/>
                <a:cs typeface="Times New Roman" panose="02020603050405020304" pitchFamily="18" charset="0"/>
              </a:rPr>
              <a:t> Kaur</a:t>
            </a:r>
          </a:p>
          <a:p>
            <a:pPr algn="ctr">
              <a:spcBef>
                <a:spcPts val="400"/>
              </a:spcBef>
            </a:pPr>
            <a:r>
              <a:rPr lang="en-IN" sz="2000" dirty="0" err="1">
                <a:solidFill>
                  <a:srgbClr val="1F1F1F"/>
                </a:solidFill>
                <a:latin typeface="Times New Roman" panose="02020603050405020304" pitchFamily="18" charset="0"/>
                <a:cs typeface="Times New Roman" panose="02020603050405020304" pitchFamily="18" charset="0"/>
              </a:rPr>
              <a:t>Chitkara</a:t>
            </a:r>
            <a:r>
              <a:rPr lang="en-IN" sz="2000" dirty="0">
                <a:solidFill>
                  <a:srgbClr val="1F1F1F"/>
                </a:solidFill>
                <a:latin typeface="Times New Roman" panose="02020603050405020304" pitchFamily="18" charset="0"/>
                <a:cs typeface="Times New Roman" panose="02020603050405020304" pitchFamily="18" charset="0"/>
              </a:rPr>
              <a:t> University</a:t>
            </a:r>
            <a:endParaRPr lang="en-IN" sz="2000" i="0" dirty="0">
              <a:solidFill>
                <a:srgbClr val="5F6368"/>
              </a:solidFill>
              <a:effectLst/>
              <a:latin typeface="Times New Roman" panose="02020603050405020304" pitchFamily="18" charset="0"/>
              <a:cs typeface="Times New Roman" panose="02020603050405020304" pitchFamily="18" charset="0"/>
            </a:endParaRPr>
          </a:p>
          <a:p>
            <a:pPr algn="ctr">
              <a:lnSpc>
                <a:spcPct val="100000"/>
              </a:lnSpc>
              <a:spcBef>
                <a:spcPts val="400"/>
              </a:spcBef>
            </a:pPr>
            <a:r>
              <a:rPr lang="en-US" sz="2000" spc="-1" dirty="0" err="1">
                <a:latin typeface="Times New Roman" panose="02020603050405020304" pitchFamily="18" charset="0"/>
                <a:ea typeface="MS PGothic"/>
                <a:cs typeface="Times New Roman" panose="02020603050405020304" pitchFamily="18" charset="0"/>
              </a:rPr>
              <a:t>Rajpura,Punjab</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
        <p:nvSpPr>
          <p:cNvPr id="2" name="TextBox 1">
            <a:extLst>
              <a:ext uri="{FF2B5EF4-FFF2-40B4-BE49-F238E27FC236}">
                <a16:creationId xmlns:a16="http://schemas.microsoft.com/office/drawing/2014/main" id="{DFBF0858-D664-7ABD-0307-46A83F6A6404}"/>
              </a:ext>
            </a:extLst>
          </p:cNvPr>
          <p:cNvSpPr txBox="1"/>
          <p:nvPr/>
        </p:nvSpPr>
        <p:spPr>
          <a:xfrm>
            <a:off x="1667691" y="2750396"/>
            <a:ext cx="2341756" cy="1754326"/>
          </a:xfrm>
          <a:prstGeom prst="rect">
            <a:avLst/>
          </a:prstGeom>
          <a:noFill/>
        </p:spPr>
        <p:txBody>
          <a:bodyPr wrap="square" rtlCol="0">
            <a:spAutoFit/>
          </a:bodyPr>
          <a:lstStyle/>
          <a:p>
            <a:pPr algn="ctr"/>
            <a:r>
              <a:rPr lang="en-US" spc="-1" dirty="0">
                <a:solidFill>
                  <a:srgbClr val="000000"/>
                </a:solidFill>
                <a:latin typeface="Times New Roman" panose="02020603050405020304" pitchFamily="18" charset="0"/>
                <a:ea typeface="MS PGothic"/>
                <a:cs typeface="Times New Roman" panose="02020603050405020304" pitchFamily="18" charset="0"/>
              </a:rPr>
              <a:t>Keshav Mittal</a:t>
            </a:r>
          </a:p>
          <a:p>
            <a:pPr algn="ctr"/>
            <a:r>
              <a:rPr lang="en-US" spc="-1" dirty="0">
                <a:solidFill>
                  <a:srgbClr val="000000"/>
                </a:solidFill>
                <a:latin typeface="Times New Roman" panose="02020603050405020304" pitchFamily="18" charset="0"/>
                <a:ea typeface="MS PGothic"/>
                <a:cs typeface="Times New Roman" panose="02020603050405020304" pitchFamily="18" charset="0"/>
              </a:rPr>
              <a:t>2210991784</a:t>
            </a:r>
          </a:p>
          <a:p>
            <a:pPr algn="ctr"/>
            <a:endParaRPr lang="en-US" spc="-1" dirty="0">
              <a:solidFill>
                <a:srgbClr val="000000"/>
              </a:solidFill>
              <a:latin typeface="Times New Roman" panose="02020603050405020304" pitchFamily="18" charset="0"/>
              <a:ea typeface="MS PGothic"/>
              <a:cs typeface="Times New Roman" panose="02020603050405020304" pitchFamily="18" charset="0"/>
            </a:endParaRPr>
          </a:p>
          <a:p>
            <a:pPr algn="ctr"/>
            <a:r>
              <a:rPr lang="en-US" spc="-1" dirty="0" err="1">
                <a:solidFill>
                  <a:srgbClr val="000000"/>
                </a:solidFill>
                <a:latin typeface="Times New Roman" panose="02020603050405020304" pitchFamily="18" charset="0"/>
                <a:ea typeface="MS PGothic"/>
                <a:cs typeface="Times New Roman" panose="02020603050405020304" pitchFamily="18" charset="0"/>
              </a:rPr>
              <a:t>Jopanpreet</a:t>
            </a:r>
            <a:r>
              <a:rPr lang="en-US" spc="-1" dirty="0">
                <a:solidFill>
                  <a:srgbClr val="000000"/>
                </a:solidFill>
                <a:latin typeface="Times New Roman" panose="02020603050405020304" pitchFamily="18" charset="0"/>
                <a:ea typeface="MS PGothic"/>
                <a:cs typeface="Times New Roman" panose="02020603050405020304" pitchFamily="18" charset="0"/>
              </a:rPr>
              <a:t> Singh</a:t>
            </a:r>
          </a:p>
          <a:p>
            <a:pPr algn="ctr"/>
            <a:r>
              <a:rPr lang="en-US" b="0" strike="noStrike" spc="-1" dirty="0">
                <a:solidFill>
                  <a:srgbClr val="000000"/>
                </a:solidFill>
                <a:latin typeface="Times New Roman" panose="02020603050405020304" pitchFamily="18" charset="0"/>
                <a:ea typeface="MS PGothic"/>
                <a:cs typeface="Times New Roman" panose="02020603050405020304" pitchFamily="18" charset="0"/>
              </a:rPr>
              <a:t>2210991725</a:t>
            </a:r>
            <a:endParaRPr lang="en-US" spc="-1" dirty="0">
              <a:solidFill>
                <a:srgbClr val="000000"/>
              </a:solidFill>
              <a:latin typeface="Times New Roman" panose="02020603050405020304" pitchFamily="18" charset="0"/>
              <a:ea typeface="MS PGothic"/>
              <a:cs typeface="Times New Roman" panose="02020603050405020304" pitchFamily="18" charset="0"/>
            </a:endParaRPr>
          </a:p>
          <a:p>
            <a:pPr algn="ctr"/>
            <a:endParaRPr lang="en-US" dirty="0"/>
          </a:p>
        </p:txBody>
      </p:sp>
      <p:sp>
        <p:nvSpPr>
          <p:cNvPr id="3" name="TextBox 2">
            <a:extLst>
              <a:ext uri="{FF2B5EF4-FFF2-40B4-BE49-F238E27FC236}">
                <a16:creationId xmlns:a16="http://schemas.microsoft.com/office/drawing/2014/main" id="{9F257E35-E8F8-5A0B-2471-5215BCCCF133}"/>
              </a:ext>
            </a:extLst>
          </p:cNvPr>
          <p:cNvSpPr txBox="1"/>
          <p:nvPr/>
        </p:nvSpPr>
        <p:spPr>
          <a:xfrm>
            <a:off x="4959796" y="2675705"/>
            <a:ext cx="2888167" cy="1682512"/>
          </a:xfrm>
          <a:prstGeom prst="rect">
            <a:avLst/>
          </a:prstGeom>
          <a:noFill/>
        </p:spPr>
        <p:txBody>
          <a:bodyPr wrap="square" rtlCol="0">
            <a:spAutoFit/>
          </a:bodyPr>
          <a:lstStyle/>
          <a:p>
            <a:pPr algn="ctr">
              <a:spcBef>
                <a:spcPts val="400"/>
              </a:spcBef>
            </a:pPr>
            <a:r>
              <a:rPr lang="en-US" sz="1800" spc="-1" dirty="0">
                <a:solidFill>
                  <a:srgbClr val="000000"/>
                </a:solidFill>
                <a:latin typeface="Times New Roman" panose="02020603050405020304" pitchFamily="18" charset="0"/>
                <a:ea typeface="MS PGothic"/>
                <a:cs typeface="Times New Roman" panose="02020603050405020304" pitchFamily="18" charset="0"/>
              </a:rPr>
              <a:t>Kartik </a:t>
            </a:r>
            <a:r>
              <a:rPr lang="en-US" sz="1800" spc="-1" dirty="0" err="1">
                <a:solidFill>
                  <a:srgbClr val="000000"/>
                </a:solidFill>
                <a:latin typeface="Times New Roman" panose="02020603050405020304" pitchFamily="18" charset="0"/>
                <a:ea typeface="MS PGothic"/>
                <a:cs typeface="Times New Roman" panose="02020603050405020304" pitchFamily="18" charset="0"/>
              </a:rPr>
              <a:t>Kummar</a:t>
            </a:r>
            <a:endParaRPr lang="en-US" sz="1800" spc="-1" dirty="0">
              <a:solidFill>
                <a:srgbClr val="000000"/>
              </a:solidFill>
              <a:latin typeface="Times New Roman" panose="02020603050405020304" pitchFamily="18" charset="0"/>
              <a:ea typeface="MS PGothic"/>
              <a:cs typeface="Times New Roman" panose="02020603050405020304" pitchFamily="18" charset="0"/>
            </a:endParaRPr>
          </a:p>
          <a:p>
            <a:pPr algn="ctr">
              <a:spcBef>
                <a:spcPts val="400"/>
              </a:spcBef>
            </a:pPr>
            <a:r>
              <a:rPr lang="en-US" sz="1800" b="0" strike="noStrike" spc="-1" dirty="0">
                <a:solidFill>
                  <a:srgbClr val="000000"/>
                </a:solidFill>
                <a:latin typeface="Times New Roman" panose="02020603050405020304" pitchFamily="18" charset="0"/>
                <a:ea typeface="MS PGothic"/>
                <a:cs typeface="Times New Roman" panose="02020603050405020304" pitchFamily="18" charset="0"/>
              </a:rPr>
              <a:t>2210991757</a:t>
            </a:r>
          </a:p>
          <a:p>
            <a:pPr algn="ctr">
              <a:spcBef>
                <a:spcPts val="400"/>
              </a:spcBef>
            </a:pPr>
            <a:endParaRPr lang="en-US" sz="18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spcBef>
                <a:spcPts val="400"/>
              </a:spcBef>
            </a:pPr>
            <a:r>
              <a:rPr lang="en-US" sz="1800" spc="-1" dirty="0" err="1">
                <a:solidFill>
                  <a:srgbClr val="000000"/>
                </a:solidFill>
                <a:latin typeface="Times New Roman" panose="02020603050405020304" pitchFamily="18" charset="0"/>
                <a:ea typeface="MS PGothic"/>
                <a:cs typeface="Times New Roman" panose="02020603050405020304" pitchFamily="18" charset="0"/>
              </a:rPr>
              <a:t>Jasnoor</a:t>
            </a:r>
            <a:r>
              <a:rPr lang="en-US" sz="1800" spc="-1" dirty="0">
                <a:solidFill>
                  <a:srgbClr val="000000"/>
                </a:solidFill>
                <a:latin typeface="Times New Roman" panose="02020603050405020304" pitchFamily="18" charset="0"/>
                <a:ea typeface="MS PGothic"/>
                <a:cs typeface="Times New Roman" panose="02020603050405020304" pitchFamily="18" charset="0"/>
              </a:rPr>
              <a:t> Kaur</a:t>
            </a:r>
            <a:endParaRPr lang="en-US" sz="18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spcBef>
                <a:spcPts val="400"/>
              </a:spcBef>
            </a:pPr>
            <a:r>
              <a:rPr lang="en-US" sz="1800" b="0" strike="noStrike" spc="-1" dirty="0">
                <a:solidFill>
                  <a:srgbClr val="000000"/>
                </a:solidFill>
                <a:latin typeface="Times New Roman" panose="02020603050405020304" pitchFamily="18" charset="0"/>
                <a:ea typeface="MS PGothic"/>
                <a:cs typeface="Times New Roman" panose="02020603050405020304" pitchFamily="18" charset="0"/>
              </a:rPr>
              <a:t>2210991704</a:t>
            </a:r>
            <a:endParaRPr lang="en-US" sz="1800" spc="-1" dirty="0">
              <a:solidFill>
                <a:srgbClr val="000000"/>
              </a:solidFill>
              <a:latin typeface="Times New Roman" panose="02020603050405020304" pitchFamily="18" charset="0"/>
              <a:ea typeface="MS PGothic"/>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63D23-EAE7-4DEE-F5C7-6A260DCA98D1}"/>
              </a:ext>
            </a:extLst>
          </p:cNvPr>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Index</a:t>
            </a:r>
          </a:p>
        </p:txBody>
      </p:sp>
      <p:sp>
        <p:nvSpPr>
          <p:cNvPr id="4" name="TextBox 3">
            <a:extLst>
              <a:ext uri="{FF2B5EF4-FFF2-40B4-BE49-F238E27FC236}">
                <a16:creationId xmlns:a16="http://schemas.microsoft.com/office/drawing/2014/main" id="{DBB9F0B2-D8AA-3E45-AF01-88BDCE43A54B}"/>
              </a:ext>
            </a:extLst>
          </p:cNvPr>
          <p:cNvSpPr txBox="1"/>
          <p:nvPr/>
        </p:nvSpPr>
        <p:spPr>
          <a:xfrm>
            <a:off x="109182" y="914040"/>
            <a:ext cx="8911988" cy="7171194"/>
          </a:xfrm>
          <a:prstGeom prst="rect">
            <a:avLst/>
          </a:prstGeom>
          <a:noFill/>
        </p:spPr>
        <p:txBody>
          <a:bodyPr wrap="square" rtlCol="0">
            <a:spAutoFit/>
          </a:bodyPr>
          <a:lstStyle/>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Abstract </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Introduction</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Objectives</a:t>
            </a:r>
          </a:p>
          <a:p>
            <a:pPr marL="342900" indent="-342900">
              <a:buFont typeface="+mj-lt"/>
              <a:buAutoNum type="arabicPeriod"/>
            </a:pPr>
            <a:r>
              <a:rPr lang="en-IN" sz="2000" i="0" dirty="0">
                <a:effectLst/>
                <a:latin typeface="Times New Roman" panose="02020603050405020304" pitchFamily="18" charset="0"/>
                <a:cs typeface="Times New Roman" panose="02020603050405020304" pitchFamily="18" charset="0"/>
              </a:rPr>
              <a:t>Concept of AI Bylaws</a:t>
            </a:r>
          </a:p>
          <a:p>
            <a:pPr marL="342900" indent="-342900">
              <a:buFont typeface="+mj-lt"/>
              <a:buAutoNum type="arabicPeriod"/>
            </a:pPr>
            <a:r>
              <a:rPr lang="en-IN" sz="2000" i="0" dirty="0">
                <a:effectLst/>
                <a:latin typeface="Times New Roman" panose="02020603050405020304" pitchFamily="18" charset="0"/>
                <a:cs typeface="Times New Roman" panose="02020603050405020304" pitchFamily="18" charset="0"/>
              </a:rPr>
              <a:t>Core Principles</a:t>
            </a:r>
          </a:p>
          <a:p>
            <a:pPr marL="342900" indent="-342900">
              <a:buFont typeface="+mj-lt"/>
              <a:buAutoNum type="arabicPeriod"/>
            </a:pPr>
            <a:r>
              <a:rPr lang="en-IN" sz="2000" i="0" dirty="0">
                <a:effectLst/>
                <a:latin typeface="Times New Roman" panose="02020603050405020304" pitchFamily="18" charset="0"/>
                <a:cs typeface="Times New Roman" panose="02020603050405020304" pitchFamily="18" charset="0"/>
              </a:rPr>
              <a:t>Experimental Methodology</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Data Set</a:t>
            </a:r>
          </a:p>
          <a:p>
            <a:pPr marL="342900" indent="-342900">
              <a:buFont typeface="+mj-lt"/>
              <a:buAutoNum type="arabicPeriod"/>
            </a:pPr>
            <a:r>
              <a:rPr lang="en-IN" sz="2000" i="0" dirty="0">
                <a:effectLst/>
                <a:latin typeface="Times New Roman" panose="02020603050405020304" pitchFamily="18" charset="0"/>
                <a:cs typeface="Times New Roman" panose="02020603050405020304" pitchFamily="18" charset="0"/>
              </a:rPr>
              <a:t>Results</a:t>
            </a:r>
          </a:p>
          <a:p>
            <a:pPr marL="342900" indent="-342900">
              <a:buFont typeface="+mj-lt"/>
              <a:buAutoNum type="arabicPeriod"/>
            </a:pPr>
            <a:r>
              <a:rPr lang="en-IN" sz="2000" i="0" dirty="0">
                <a:effectLst/>
                <a:latin typeface="Times New Roman" panose="02020603050405020304" pitchFamily="18" charset="0"/>
                <a:cs typeface="Times New Roman" panose="02020603050405020304" pitchFamily="18" charset="0"/>
              </a:rPr>
              <a:t>Variation in Quality</a:t>
            </a:r>
          </a:p>
          <a:p>
            <a:pPr marL="342900" indent="-342900">
              <a:buFont typeface="+mj-lt"/>
              <a:buAutoNum type="arabicPeriod"/>
            </a:pPr>
            <a:r>
              <a:rPr lang="en-IN" sz="2000" i="0" dirty="0">
                <a:effectLst/>
                <a:latin typeface="Times New Roman" panose="02020603050405020304" pitchFamily="18" charset="0"/>
                <a:cs typeface="Times New Roman" panose="02020603050405020304" pitchFamily="18" charset="0"/>
              </a:rPr>
              <a:t>Average Score</a:t>
            </a:r>
          </a:p>
          <a:p>
            <a:pPr marL="342900" indent="-342900">
              <a:buFont typeface="+mj-lt"/>
              <a:buAutoNum type="arabicPeriod"/>
            </a:pPr>
            <a:r>
              <a:rPr lang="en-IN" sz="2000" i="0" dirty="0">
                <a:effectLst/>
                <a:latin typeface="Times New Roman" panose="02020603050405020304" pitchFamily="18" charset="0"/>
                <a:cs typeface="Times New Roman" panose="02020603050405020304" pitchFamily="18" charset="0"/>
              </a:rPr>
              <a:t> Limitations</a:t>
            </a:r>
          </a:p>
          <a:p>
            <a:pPr marL="342900" indent="-342900">
              <a:buFont typeface="+mj-lt"/>
              <a:buAutoNum type="arabicPeriod"/>
            </a:pPr>
            <a:r>
              <a:rPr lang="en-IN" sz="2000" i="0" dirty="0">
                <a:effectLst/>
                <a:latin typeface="Times New Roman" panose="02020603050405020304" pitchFamily="18" charset="0"/>
                <a:cs typeface="Times New Roman" panose="02020603050405020304" pitchFamily="18" charset="0"/>
              </a:rPr>
              <a:t>Conclusion</a:t>
            </a:r>
          </a:p>
          <a:p>
            <a:pPr marL="342900" indent="-342900">
              <a:buFont typeface="+mj-lt"/>
              <a:buAutoNum type="arabicPeriod"/>
            </a:pPr>
            <a:r>
              <a:rPr lang="en-IN" sz="2000" i="0" dirty="0">
                <a:effectLst/>
                <a:latin typeface="Times New Roman" panose="02020603050405020304" pitchFamily="18" charset="0"/>
                <a:cs typeface="Times New Roman" panose="02020603050405020304" pitchFamily="18" charset="0"/>
              </a:rPr>
              <a:t>References</a:t>
            </a:r>
          </a:p>
          <a:p>
            <a:pPr marL="342900" indent="-342900">
              <a:buFont typeface="+mj-lt"/>
              <a:buAutoNum type="arabicPeriod"/>
            </a:pPr>
            <a:endParaRPr lang="en-IN" sz="2000" i="0" dirty="0">
              <a:effectLst/>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sz="2000" i="0" dirty="0">
              <a:effectLst/>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sz="2000" i="0" dirty="0">
              <a:effectLst/>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sz="2000" i="0" dirty="0">
              <a:effectLst/>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sz="2000" i="0" dirty="0">
              <a:effectLst/>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sz="2000" i="0" dirty="0">
              <a:effectLst/>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sz="2000" i="0" dirty="0">
              <a:effectLst/>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20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20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5003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b="1" i="0" dirty="0">
                <a:effectLst/>
                <a:latin typeface="Times New Roman" panose="02020603050405020304" pitchFamily="18" charset="0"/>
                <a:cs typeface="Times New Roman" panose="02020603050405020304" pitchFamily="18" charset="0"/>
              </a:rPr>
              <a:t>Abstract</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r>
              <a:rPr lang="en-IN" sz="2000" dirty="0">
                <a:effectLst/>
                <a:latin typeface="Times New Roman" panose="02020603050405020304" pitchFamily="18" charset="0"/>
                <a:cs typeface="Times New Roman" panose="02020603050405020304" pitchFamily="18" charset="0"/>
              </a:rPr>
              <a:t>Artificial Intelligence (AI) is rapidly transforming sectors such as healthcare, finance, governance, and communication by enhancing automation, efficiency, and decision-making capabilities. However, its widespread adoption has raised significant ethical concerns, including algorithmic bias, misinformation, cybercrime, and misuse of technologies like deepfakes. These challenges highlight the need for structured governance mechanisms to ensure responsible AI development. This paper introduces the concept of AI Bylaws, a framework of enforceable rules designed to regulate the </a:t>
            </a:r>
            <a:r>
              <a:rPr lang="en-IN" sz="2000" dirty="0" err="1">
                <a:effectLst/>
                <a:latin typeface="Times New Roman" panose="02020603050405020304" pitchFamily="18" charset="0"/>
                <a:cs typeface="Times New Roman" panose="02020603050405020304" pitchFamily="18" charset="0"/>
              </a:rPr>
              <a:t>behavior</a:t>
            </a:r>
            <a:r>
              <a:rPr lang="en-IN" sz="2000" dirty="0">
                <a:effectLst/>
                <a:latin typeface="Times New Roman" panose="02020603050405020304" pitchFamily="18" charset="0"/>
                <a:cs typeface="Times New Roman" panose="02020603050405020304" pitchFamily="18" charset="0"/>
              </a:rPr>
              <a:t>, deployment, and interaction of AI systems. An experimental study was conducted using ethically sensitive prompts related to discrimination, cybercrime, and harmful activities to evaluate AI responses. The findings indicate that while most AI systems effectively prevent harmful outputs and follow safety protocols, inconsistencies remain in explanation quality and contextual reasoning. The study emphasizes the need for stronger, transparent, and accountable governance systems to ensure ethical compliance and promote trustworthy AI systems.</a:t>
            </a:r>
          </a:p>
          <a:p>
            <a:pPr algn="ctr"/>
            <a:br>
              <a:rPr lang="en-IN" sz="2000" dirty="0">
                <a:effectLst/>
                <a:latin typeface="Times New Roman" panose="02020603050405020304" pitchFamily="18" charset="0"/>
                <a:cs typeface="Times New Roman" panose="02020603050405020304" pitchFamily="18" charset="0"/>
              </a:rPr>
            </a:br>
            <a:endParaRPr lang="en-IN" sz="2000" dirty="0">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b="1" i="0" dirty="0">
                <a:effectLst/>
                <a:latin typeface="Times New Roman" panose="02020603050405020304" pitchFamily="18" charset="0"/>
                <a:cs typeface="Times New Roman" panose="02020603050405020304" pitchFamily="18" charset="0"/>
              </a:rPr>
              <a:t>Introduction</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p:cNvSpPr txBox="1"/>
          <p:nvPr/>
        </p:nvSpPr>
        <p:spPr>
          <a:xfrm>
            <a:off x="152640" y="1120894"/>
            <a:ext cx="8838720" cy="4838571"/>
          </a:xfrm>
          <a:prstGeom prst="rect">
            <a:avLst/>
          </a:prstGeom>
          <a:noFill/>
          <a:ln w="9360">
            <a:noFill/>
          </a:ln>
        </p:spPr>
        <p:txBody>
          <a:bodyPr>
            <a:noAutofit/>
          </a:bodyPr>
          <a:lstStyle/>
          <a:p>
            <a:r>
              <a:rPr lang="en-IN" sz="2000" dirty="0">
                <a:effectLst/>
                <a:latin typeface="Times New Roman" panose="02020603050405020304" pitchFamily="18" charset="0"/>
                <a:cs typeface="Times New Roman" panose="02020603050405020304" pitchFamily="18" charset="0"/>
              </a:rPr>
              <a:t>Artificial Intelligence (AI) has emerged as one of the most transformative technologies of the 21st century, impacting domains such as healthcare, finance, governance, and communication. From recommendation systems to autonomous decision-making, AI has enhanced efficiency, scalability, and automation across industries. However, this rapid advancement has also introduced significant ethical and societal challenges, including algorithmic bias, misinformation, cybercrime, and the misuse of technologies like deepfakes. These concerns highlight the growing need for structured governance mechanisms to ensure the responsible development and deployment of AI systems. </a:t>
            </a:r>
          </a:p>
          <a:p>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To address these challenges, the concept of AI Bylaws is proposed as a practical framework for ethical AI governance. Unlike high-level ethical guidelines, AI bylaws provide enforceable rules that regulate how AI systems operate, interact with users, and adhere to principles such as fairness, transparency, accountability, and harm prevention. This research evaluates the effectiveness of current AI systems in maintaining ethical compliance and emphasizes the importance of integrating structured governance mechanisms to promote responsible and trustworthy AI development.</a:t>
            </a:r>
          </a:p>
          <a:p>
            <a:endParaRPr lang="en-IN" sz="20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064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0676D-8BA2-E0DC-D691-1094FEA4509B}"/>
              </a:ext>
            </a:extLst>
          </p:cNvPr>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Objectives</a:t>
            </a:r>
          </a:p>
        </p:txBody>
      </p:sp>
      <p:sp>
        <p:nvSpPr>
          <p:cNvPr id="4" name="TextBox 3">
            <a:extLst>
              <a:ext uri="{FF2B5EF4-FFF2-40B4-BE49-F238E27FC236}">
                <a16:creationId xmlns:a16="http://schemas.microsoft.com/office/drawing/2014/main" id="{6428B4C3-1567-27CB-B58D-62E6F5536E8A}"/>
              </a:ext>
            </a:extLst>
          </p:cNvPr>
          <p:cNvSpPr txBox="1"/>
          <p:nvPr/>
        </p:nvSpPr>
        <p:spPr>
          <a:xfrm>
            <a:off x="116006" y="831793"/>
            <a:ext cx="8911988" cy="6247864"/>
          </a:xfrm>
          <a:prstGeom prst="rect">
            <a:avLst/>
          </a:prstGeom>
          <a:noFill/>
        </p:spPr>
        <p:txBody>
          <a:bodyPr wrap="square" rtlCol="0">
            <a:spAutoFit/>
          </a:bodyPr>
          <a:lstStyle/>
          <a:p>
            <a:pPr>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Evaluate Ethical Compliance</a:t>
            </a:r>
            <a:br>
              <a:rPr lang="en-IN" sz="2000" dirty="0">
                <a:effectLst/>
                <a:latin typeface="Times New Roman" panose="02020603050405020304" pitchFamily="18" charset="0"/>
                <a:cs typeface="Times New Roman" panose="02020603050405020304" pitchFamily="18" charset="0"/>
              </a:rPr>
            </a:br>
            <a:r>
              <a:rPr lang="en-IN" sz="2000" dirty="0" err="1">
                <a:effectLst/>
                <a:latin typeface="Times New Roman" panose="02020603050405020304" pitchFamily="18" charset="0"/>
                <a:cs typeface="Times New Roman" panose="02020603050405020304" pitchFamily="18" charset="0"/>
              </a:rPr>
              <a:t>Analyze</a:t>
            </a:r>
            <a:r>
              <a:rPr lang="en-IN" sz="2000" dirty="0">
                <a:effectLst/>
                <a:latin typeface="Times New Roman" panose="02020603050405020304" pitchFamily="18" charset="0"/>
                <a:cs typeface="Times New Roman" panose="02020603050405020304" pitchFamily="18" charset="0"/>
              </a:rPr>
              <a:t> how AI systems respond to ethically sensitive prompts and whether they follow safety guidelines. </a:t>
            </a:r>
            <a:br>
              <a:rPr lang="en-IN" sz="2000" dirty="0">
                <a:effectLst/>
                <a:latin typeface="Times New Roman" panose="02020603050405020304" pitchFamily="18" charset="0"/>
                <a:cs typeface="Times New Roman" panose="02020603050405020304" pitchFamily="18" charset="0"/>
              </a:rPr>
            </a:br>
            <a:endParaRPr lang="en-IN"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Identify Limitations in AI </a:t>
            </a:r>
            <a:r>
              <a:rPr lang="en-IN" sz="2000" dirty="0" err="1">
                <a:effectLst/>
                <a:latin typeface="Times New Roman" panose="02020603050405020304" pitchFamily="18" charset="0"/>
                <a:cs typeface="Times New Roman" panose="02020603050405020304" pitchFamily="18" charset="0"/>
              </a:rPr>
              <a:t>Behavior</a:t>
            </a:r>
            <a:br>
              <a:rPr lang="en-IN" sz="2000" dirty="0">
                <a:effectLst/>
                <a:latin typeface="Times New Roman" panose="02020603050405020304" pitchFamily="18" charset="0"/>
                <a:cs typeface="Times New Roman" panose="02020603050405020304" pitchFamily="18" charset="0"/>
              </a:rPr>
            </a:br>
            <a:r>
              <a:rPr lang="en-IN" sz="2000" dirty="0">
                <a:effectLst/>
                <a:latin typeface="Times New Roman" panose="02020603050405020304" pitchFamily="18" charset="0"/>
                <a:cs typeface="Times New Roman" panose="02020603050405020304" pitchFamily="18" charset="0"/>
              </a:rPr>
              <a:t>Detect gaps in explanation quality, contextual reasoning, and consistency of responses. </a:t>
            </a:r>
            <a:br>
              <a:rPr lang="en-IN" sz="2000" dirty="0">
                <a:effectLst/>
                <a:latin typeface="Times New Roman" panose="02020603050405020304" pitchFamily="18" charset="0"/>
                <a:cs typeface="Times New Roman" panose="02020603050405020304" pitchFamily="18" charset="0"/>
              </a:rPr>
            </a:br>
            <a:endParaRPr lang="en-IN"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Examine Risks and Misuse</a:t>
            </a:r>
            <a:br>
              <a:rPr lang="en-IN" sz="2000" dirty="0">
                <a:effectLst/>
                <a:latin typeface="Times New Roman" panose="02020603050405020304" pitchFamily="18" charset="0"/>
                <a:cs typeface="Times New Roman" panose="02020603050405020304" pitchFamily="18" charset="0"/>
              </a:rPr>
            </a:br>
            <a:r>
              <a:rPr lang="en-IN" sz="2000" dirty="0">
                <a:effectLst/>
                <a:latin typeface="Times New Roman" panose="02020603050405020304" pitchFamily="18" charset="0"/>
                <a:cs typeface="Times New Roman" panose="02020603050405020304" pitchFamily="18" charset="0"/>
              </a:rPr>
              <a:t>Study how AI handles scenarios related to bias, cybercrime, misinformation, and harmful content. </a:t>
            </a:r>
            <a:br>
              <a:rPr lang="en-IN" sz="2000" dirty="0">
                <a:effectLst/>
                <a:latin typeface="Times New Roman" panose="02020603050405020304" pitchFamily="18" charset="0"/>
                <a:cs typeface="Times New Roman" panose="02020603050405020304" pitchFamily="18" charset="0"/>
              </a:rPr>
            </a:br>
            <a:endParaRPr lang="en-IN" sz="200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dirty="0">
                <a:effectLst/>
                <a:latin typeface="Times New Roman" panose="02020603050405020304" pitchFamily="18" charset="0"/>
                <a:cs typeface="Times New Roman" panose="02020603050405020304" pitchFamily="18" charset="0"/>
              </a:rPr>
              <a:t>Propose AI Bylaws Framework</a:t>
            </a:r>
            <a:br>
              <a:rPr lang="en-IN" sz="2000" dirty="0">
                <a:effectLst/>
                <a:latin typeface="Times New Roman" panose="02020603050405020304" pitchFamily="18" charset="0"/>
                <a:cs typeface="Times New Roman" panose="02020603050405020304" pitchFamily="18" charset="0"/>
              </a:rPr>
            </a:br>
            <a:r>
              <a:rPr lang="en-IN" sz="2000" dirty="0">
                <a:effectLst/>
                <a:latin typeface="Times New Roman" panose="02020603050405020304" pitchFamily="18" charset="0"/>
                <a:cs typeface="Times New Roman" panose="02020603050405020304" pitchFamily="18" charset="0"/>
              </a:rPr>
              <a:t>Develop structured rules to ensure fairness, transparency, accountability, and harm prevention. </a:t>
            </a:r>
            <a:br>
              <a:rPr lang="en-IN" sz="2000" dirty="0">
                <a:effectLst/>
                <a:latin typeface="Times New Roman" panose="02020603050405020304" pitchFamily="18" charset="0"/>
                <a:cs typeface="Times New Roman" panose="02020603050405020304" pitchFamily="18" charset="0"/>
              </a:rPr>
            </a:br>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 • Promote Responsible AI Development</a:t>
            </a:r>
            <a:br>
              <a:rPr lang="en-IN" sz="2000" dirty="0">
                <a:effectLst/>
                <a:latin typeface="Times New Roman" panose="02020603050405020304" pitchFamily="18" charset="0"/>
                <a:cs typeface="Times New Roman" panose="02020603050405020304" pitchFamily="18" charset="0"/>
              </a:rPr>
            </a:br>
            <a:r>
              <a:rPr lang="en-IN" sz="2000" dirty="0">
                <a:effectLst/>
                <a:latin typeface="Times New Roman" panose="02020603050405020304" pitchFamily="18" charset="0"/>
                <a:cs typeface="Times New Roman" panose="02020603050405020304" pitchFamily="18" charset="0"/>
              </a:rPr>
              <a:t>Contribute to building trustworthy and ethically governed AI systems for real-world applications. </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6747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b="1" i="0" dirty="0">
                <a:effectLst/>
                <a:latin typeface="Times New Roman" panose="02020603050405020304" pitchFamily="18" charset="0"/>
                <a:cs typeface="Times New Roman" panose="02020603050405020304" pitchFamily="18" charset="0"/>
              </a:rPr>
              <a:t>Concept of AI Bylaws</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p:cNvSpPr txBox="1"/>
          <p:nvPr/>
        </p:nvSpPr>
        <p:spPr>
          <a:xfrm>
            <a:off x="152640" y="1120894"/>
            <a:ext cx="8838720" cy="4838571"/>
          </a:xfrm>
          <a:prstGeom prst="rect">
            <a:avLst/>
          </a:prstGeom>
          <a:noFill/>
          <a:ln w="9360">
            <a:noFill/>
          </a:ln>
        </p:spPr>
        <p:txBody>
          <a:bodyPr>
            <a:noAutofit/>
          </a:bodyPr>
          <a:lstStyle/>
          <a:p>
            <a:r>
              <a:rPr lang="en-IN" sz="2000" dirty="0">
                <a:effectLst/>
                <a:latin typeface="Times New Roman" panose="02020603050405020304" pitchFamily="18" charset="0"/>
                <a:cs typeface="Times New Roman" panose="02020603050405020304" pitchFamily="18" charset="0"/>
              </a:rPr>
              <a:t>AI Bylaws refer to a structured set of rules and operational guidelines that govern the development, deployment, and </a:t>
            </a:r>
            <a:r>
              <a:rPr lang="en-IN" sz="2000" dirty="0" err="1">
                <a:effectLst/>
                <a:latin typeface="Times New Roman" panose="02020603050405020304" pitchFamily="18" charset="0"/>
                <a:cs typeface="Times New Roman" panose="02020603050405020304" pitchFamily="18" charset="0"/>
              </a:rPr>
              <a:t>behavior</a:t>
            </a:r>
            <a:r>
              <a:rPr lang="en-IN" sz="2000" dirty="0">
                <a:effectLst/>
                <a:latin typeface="Times New Roman" panose="02020603050405020304" pitchFamily="18" charset="0"/>
                <a:cs typeface="Times New Roman" panose="02020603050405020304" pitchFamily="18" charset="0"/>
              </a:rPr>
              <a:t> of artificial intelligence systems. Similar to institutional or corporate bylaws, they act as internal regulatory mechanisms that ensure AI systems function within ethical and legal boundaries. </a:t>
            </a:r>
          </a:p>
          <a:p>
            <a:br>
              <a:rPr lang="en-IN" sz="2000" dirty="0">
                <a:effectLst/>
                <a:latin typeface="Times New Roman" panose="02020603050405020304" pitchFamily="18" charset="0"/>
                <a:cs typeface="Times New Roman" panose="02020603050405020304" pitchFamily="18" charset="0"/>
              </a:rPr>
            </a:br>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These bylaws are implemented through technical mechanisms such as training constraints, reinforcement learning with human feedback (RLHF), safety filters, and policy-based response systems. They enable AI to identify harmful or unethical requests and respond responsibly while prioritizing user safety and societal well-being. </a:t>
            </a:r>
          </a:p>
          <a:p>
            <a:br>
              <a:rPr lang="en-IN" sz="2000" dirty="0">
                <a:effectLst/>
                <a:latin typeface="Times New Roman" panose="02020603050405020304" pitchFamily="18" charset="0"/>
                <a:cs typeface="Times New Roman" panose="02020603050405020304" pitchFamily="18" charset="0"/>
              </a:rPr>
            </a:br>
            <a:endParaRPr lang="en-IN" sz="2000" dirty="0">
              <a:effectLst/>
              <a:latin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cs typeface="Times New Roman" panose="02020603050405020304" pitchFamily="18" charset="0"/>
              </a:rPr>
              <a:t>The core principles of AI Bylaws include fairness (avoiding bias and discrimination), transparency (clear explanations of decisions), accountability (responsibility for actions), and harm prevention (restricting unsafe or illegal outputs). Together, these principles help ensure trustworthy and responsible AI systems.</a:t>
            </a:r>
          </a:p>
        </p:txBody>
      </p:sp>
    </p:spTree>
    <p:extLst>
      <p:ext uri="{BB962C8B-B14F-4D97-AF65-F5344CB8AC3E}">
        <p14:creationId xmlns:p14="http://schemas.microsoft.com/office/powerpoint/2010/main" val="4072657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b="1" i="0" dirty="0">
                <a:effectLst/>
                <a:latin typeface="Times New Roman" panose="02020603050405020304" pitchFamily="18" charset="0"/>
                <a:cs typeface="Times New Roman" panose="02020603050405020304" pitchFamily="18" charset="0"/>
              </a:rPr>
              <a:t>Core Principles</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7</a:t>
            </a:fld>
            <a:endParaRPr lang="en-GB" sz="1200" b="0" strike="noStrike" spc="-1">
              <a:latin typeface="Times New Roman"/>
            </a:endParaRPr>
          </a:p>
        </p:txBody>
      </p:sp>
      <p:sp>
        <p:nvSpPr>
          <p:cNvPr id="5" name="TextShape 2"/>
          <p:cNvSpPr txBox="1"/>
          <p:nvPr/>
        </p:nvSpPr>
        <p:spPr>
          <a:xfrm>
            <a:off x="152640" y="1120894"/>
            <a:ext cx="8838720" cy="4838571"/>
          </a:xfrm>
          <a:prstGeom prst="rect">
            <a:avLst/>
          </a:prstGeom>
          <a:noFill/>
          <a:ln w="9360">
            <a:noFill/>
          </a:ln>
        </p:spPr>
        <p:txBody>
          <a:bodyPr>
            <a:noAutofit/>
          </a:bodyPr>
          <a:lstStyle/>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Fairness</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Ensures AI systems do not produce biased or discriminatory outcomes based on gender, race, religion, or other factors. Artificial Intelligence Bylaws</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Transparency</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AI systems should clearly explain their decisions and limitations to build user trust and understanding. Artificial Intelligence Bylaws</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Accountability</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Establishes responsibility for AI actions, ensuring systems can be audited and monitored for ethical compliance. Artificial Intelligence Bylaws</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Harm Prevention</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Prevents AI from generating harmful, illegal, or unethical content, including support for cybercrime or misuse. </a:t>
            </a:r>
          </a:p>
        </p:txBody>
      </p:sp>
    </p:spTree>
    <p:extLst>
      <p:ext uri="{BB962C8B-B14F-4D97-AF65-F5344CB8AC3E}">
        <p14:creationId xmlns:p14="http://schemas.microsoft.com/office/powerpoint/2010/main" val="2571528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b="1" i="0" dirty="0">
                <a:effectLst/>
                <a:latin typeface="Times New Roman" panose="02020603050405020304" pitchFamily="18" charset="0"/>
                <a:cs typeface="Times New Roman" panose="02020603050405020304" pitchFamily="18" charset="0"/>
              </a:rPr>
              <a:t>Experimental Methodology</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8</a:t>
            </a:fld>
            <a:endParaRPr lang="en-GB" sz="1200" b="0" strike="noStrike" spc="-1">
              <a:latin typeface="Times New Roman"/>
            </a:endParaRPr>
          </a:p>
        </p:txBody>
      </p:sp>
      <p:sp>
        <p:nvSpPr>
          <p:cNvPr id="5" name="TextShape 2"/>
          <p:cNvSpPr txBox="1"/>
          <p:nvPr/>
        </p:nvSpPr>
        <p:spPr>
          <a:xfrm>
            <a:off x="152640" y="1120894"/>
            <a:ext cx="8838720" cy="4838571"/>
          </a:xfrm>
          <a:prstGeom prst="rect">
            <a:avLst/>
          </a:prstGeom>
          <a:noFill/>
          <a:ln w="9360">
            <a:noFill/>
          </a:ln>
        </p:spPr>
        <p:txBody>
          <a:bodyPr>
            <a:noAutofit/>
          </a:bodyPr>
          <a:lstStyle/>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Dataset Creation</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A dataset of ethically sensitive prompts was designed, covering areas like discrimination, cybercrime, deepfake misuse, and harmful </a:t>
            </a:r>
            <a:r>
              <a:rPr lang="en-IN" sz="2000" b="0" i="0" dirty="0" err="1">
                <a:effectLst/>
                <a:latin typeface="Times New Roman" panose="02020603050405020304" pitchFamily="18" charset="0"/>
                <a:cs typeface="Times New Roman" panose="02020603050405020304" pitchFamily="18" charset="0"/>
              </a:rPr>
              <a:t>behavior</a:t>
            </a:r>
            <a:r>
              <a:rPr lang="en-IN" sz="2000" b="0" i="0" dirty="0">
                <a:effectLst/>
                <a:latin typeface="Times New Roman" panose="02020603050405020304" pitchFamily="18" charset="0"/>
                <a:cs typeface="Times New Roman" panose="02020603050405020304" pitchFamily="18" charset="0"/>
              </a:rPr>
              <a:t>.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Testing AI Responses</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These prompts were given to different AI systems, and their responses were recorded for evaluation.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Evaluation Criteria</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Responses were assessed based on ethical compliance, safety, clarity, and the ability to justify refusal of harmful requests.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Analysis Approach</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Both qualitative and quantitative analysis were used to identify patterns in AI </a:t>
            </a:r>
            <a:r>
              <a:rPr lang="en-IN" sz="2000" b="0" i="0" dirty="0" err="1">
                <a:effectLst/>
                <a:latin typeface="Times New Roman" panose="02020603050405020304" pitchFamily="18" charset="0"/>
                <a:cs typeface="Times New Roman" panose="02020603050405020304" pitchFamily="18" charset="0"/>
              </a:rPr>
              <a:t>behavior</a:t>
            </a:r>
            <a:r>
              <a:rPr lang="en-IN" sz="2000" b="0" i="0" dirty="0">
                <a:effectLst/>
                <a:latin typeface="Times New Roman" panose="02020603050405020304" pitchFamily="18" charset="0"/>
                <a:cs typeface="Times New Roman" panose="02020603050405020304" pitchFamily="18" charset="0"/>
              </a:rPr>
              <a:t> and consistency in responses.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Objective</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To evaluate how effectively AI systems follow ethical standards and identify gaps in current AI governance mechanisms. </a:t>
            </a:r>
          </a:p>
          <a:p>
            <a:pPr algn="l"/>
            <a:endParaRPr lang="en-IN" b="0" i="0" dirty="0">
              <a:effectLst/>
              <a:latin typeface="-apple-system-body"/>
            </a:endParaRPr>
          </a:p>
        </p:txBody>
      </p:sp>
    </p:spTree>
    <p:extLst>
      <p:ext uri="{BB962C8B-B14F-4D97-AF65-F5344CB8AC3E}">
        <p14:creationId xmlns:p14="http://schemas.microsoft.com/office/powerpoint/2010/main" val="2172298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32251-D0B1-B780-0A18-7FDBCECFD1E2}"/>
              </a:ext>
            </a:extLst>
          </p:cNvPr>
          <p:cNvSpPr>
            <a:spLocks noGrp="1"/>
          </p:cNvSpPr>
          <p:nvPr>
            <p:ph type="title"/>
          </p:nvPr>
        </p:nvSpPr>
        <p:spPr/>
        <p:txBody>
          <a:bodyPr/>
          <a:lstStyle/>
          <a:p>
            <a:pPr algn="ctr"/>
            <a:r>
              <a:rPr lang="en-US" sz="3200" b="1" dirty="0">
                <a:latin typeface="Times New Roman" panose="02020603050405020304" pitchFamily="18" charset="0"/>
                <a:cs typeface="Times New Roman" panose="02020603050405020304" pitchFamily="18" charset="0"/>
              </a:rPr>
              <a:t>Data Set</a:t>
            </a:r>
          </a:p>
        </p:txBody>
      </p:sp>
      <p:pic>
        <p:nvPicPr>
          <p:cNvPr id="5" name="Picture 4">
            <a:extLst>
              <a:ext uri="{FF2B5EF4-FFF2-40B4-BE49-F238E27FC236}">
                <a16:creationId xmlns:a16="http://schemas.microsoft.com/office/drawing/2014/main" id="{7B38F588-3E98-ADDA-FF38-36C4868867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337553"/>
            <a:ext cx="9099409" cy="4162495"/>
          </a:xfrm>
          <a:prstGeom prst="rect">
            <a:avLst/>
          </a:prstGeom>
        </p:spPr>
      </p:pic>
    </p:spTree>
    <p:extLst>
      <p:ext uri="{BB962C8B-B14F-4D97-AF65-F5344CB8AC3E}">
        <p14:creationId xmlns:p14="http://schemas.microsoft.com/office/powerpoint/2010/main" val="2938618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b="1" i="0" dirty="0">
                <a:effectLst/>
                <a:latin typeface="Times New Roman" panose="02020603050405020304" pitchFamily="18" charset="0"/>
                <a:cs typeface="Times New Roman" panose="02020603050405020304" pitchFamily="18" charset="0"/>
              </a:rPr>
              <a:t>Results</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10</a:t>
            </a:fld>
            <a:endParaRPr lang="en-GB" sz="1200" b="0" strike="noStrike" spc="-1" dirty="0">
              <a:latin typeface="Times New Roman"/>
            </a:endParaRPr>
          </a:p>
        </p:txBody>
      </p:sp>
      <p:sp>
        <p:nvSpPr>
          <p:cNvPr id="5" name="TextShape 2"/>
          <p:cNvSpPr txBox="1"/>
          <p:nvPr/>
        </p:nvSpPr>
        <p:spPr>
          <a:xfrm>
            <a:off x="152640" y="1120894"/>
            <a:ext cx="8838720" cy="4838571"/>
          </a:xfrm>
          <a:prstGeom prst="rect">
            <a:avLst/>
          </a:prstGeom>
          <a:noFill/>
          <a:ln w="9360">
            <a:noFill/>
          </a:ln>
        </p:spPr>
        <p:txBody>
          <a:bodyPr>
            <a:noAutofit/>
          </a:bodyPr>
          <a:lstStyle/>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High Ethical Compliance</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Most AI systems successfully rejected harmful or unethical prompts and followed safety guidelines.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Effective Harm Prevention</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AI consistently avoided generating content related to cybercrime, discrimination, or misuse of deepfakes.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Bias Mitigation Observed</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Responses promoted fairness and equality, avoiding discriminatory or biased outputs.</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Variation in Response Quality</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Differences were observed in clarity, depth, and consistency across different AI models.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Limited Explanations</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Some AI systems provided brief refusals without detailed reasoning, reducing educational value.</a:t>
            </a:r>
          </a:p>
        </p:txBody>
      </p:sp>
    </p:spTree>
    <p:extLst>
      <p:ext uri="{BB962C8B-B14F-4D97-AF65-F5344CB8AC3E}">
        <p14:creationId xmlns:p14="http://schemas.microsoft.com/office/powerpoint/2010/main" val="27853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b="1" i="0" dirty="0">
                <a:effectLst/>
                <a:latin typeface="Times New Roman" panose="02020603050405020304" pitchFamily="18" charset="0"/>
                <a:cs typeface="Times New Roman" panose="02020603050405020304" pitchFamily="18" charset="0"/>
              </a:rPr>
              <a:t>Variation in Quality</a:t>
            </a: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11</a:t>
            </a:fld>
            <a:endParaRPr lang="en-GB" sz="1200" b="0" strike="noStrike" spc="-1">
              <a:latin typeface="Times New Roman"/>
            </a:endParaRPr>
          </a:p>
        </p:txBody>
      </p:sp>
      <p:sp>
        <p:nvSpPr>
          <p:cNvPr id="5" name="TextShape 2"/>
          <p:cNvSpPr txBox="1"/>
          <p:nvPr/>
        </p:nvSpPr>
        <p:spPr>
          <a:xfrm>
            <a:off x="152640" y="1120894"/>
            <a:ext cx="8838720" cy="4838571"/>
          </a:xfrm>
          <a:prstGeom prst="rect">
            <a:avLst/>
          </a:prstGeom>
          <a:noFill/>
          <a:ln w="9360">
            <a:noFill/>
          </a:ln>
        </p:spPr>
        <p:txBody>
          <a:bodyPr>
            <a:noAutofit/>
          </a:bodyPr>
          <a:lstStyle/>
          <a:p>
            <a:pPr algn="l">
              <a:buFont typeface="Arial" panose="020B0604020202020204" pitchFamily="34" charset="0"/>
              <a:buChar char="•"/>
            </a:pPr>
            <a:r>
              <a:rPr lang="en-IN" sz="2000" i="0" dirty="0">
                <a:effectLst/>
                <a:latin typeface="Times New Roman" panose="02020603050405020304" pitchFamily="18" charset="0"/>
                <a:cs typeface="Times New Roman" panose="02020603050405020304" pitchFamily="18" charset="0"/>
              </a:rPr>
              <a:t>Measures consistency of AI responses</a:t>
            </a:r>
          </a:p>
          <a:p>
            <a:pPr algn="l">
              <a:buFont typeface="Arial" panose="020B0604020202020204" pitchFamily="34" charset="0"/>
              <a:buChar char="•"/>
            </a:pPr>
            <a:r>
              <a:rPr lang="en-IN" sz="2000" i="0" dirty="0">
                <a:effectLst/>
                <a:latin typeface="Times New Roman" panose="02020603050405020304" pitchFamily="18" charset="0"/>
                <a:cs typeface="Times New Roman" panose="02020603050405020304" pitchFamily="18" charset="0"/>
              </a:rPr>
              <a:t>Low standard deviation → more stable performance</a:t>
            </a:r>
          </a:p>
          <a:p>
            <a:pPr algn="l">
              <a:buFont typeface="Arial" panose="020B0604020202020204" pitchFamily="34" charset="0"/>
              <a:buChar char="•"/>
            </a:pPr>
            <a:r>
              <a:rPr lang="en-IN" sz="2000" i="0" dirty="0">
                <a:effectLst/>
                <a:latin typeface="Times New Roman" panose="02020603050405020304" pitchFamily="18" charset="0"/>
                <a:cs typeface="Times New Roman" panose="02020603050405020304" pitchFamily="18" charset="0"/>
              </a:rPr>
              <a:t>High variation → inconsistent responses</a:t>
            </a:r>
          </a:p>
          <a:p>
            <a:pPr algn="l">
              <a:buFont typeface="Arial" panose="020B0604020202020204" pitchFamily="34" charset="0"/>
              <a:buChar char="•"/>
            </a:pPr>
            <a:r>
              <a:rPr lang="en-IN" sz="2000" i="0" dirty="0">
                <a:effectLst/>
                <a:latin typeface="Times New Roman" panose="02020603050405020304" pitchFamily="18" charset="0"/>
                <a:cs typeface="Times New Roman" panose="02020603050405020304" pitchFamily="18" charset="0"/>
              </a:rPr>
              <a:t>Some models show higher reliability than others</a:t>
            </a:r>
          </a:p>
        </p:txBody>
      </p:sp>
      <p:pic>
        <p:nvPicPr>
          <p:cNvPr id="2" name="Picture 1">
            <a:extLst>
              <a:ext uri="{FF2B5EF4-FFF2-40B4-BE49-F238E27FC236}">
                <a16:creationId xmlns:a16="http://schemas.microsoft.com/office/drawing/2014/main" id="{6039ACC6-84F1-F435-89B4-95F4CF8A8D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7829" y="2396886"/>
            <a:ext cx="5408341" cy="4056256"/>
          </a:xfrm>
          <a:prstGeom prst="rect">
            <a:avLst/>
          </a:prstGeom>
        </p:spPr>
      </p:pic>
    </p:spTree>
    <p:extLst>
      <p:ext uri="{BB962C8B-B14F-4D97-AF65-F5344CB8AC3E}">
        <p14:creationId xmlns:p14="http://schemas.microsoft.com/office/powerpoint/2010/main" val="2447982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b="1" i="0" dirty="0">
                <a:effectLst/>
                <a:latin typeface="Times New Roman" panose="02020603050405020304" pitchFamily="18" charset="0"/>
                <a:cs typeface="Times New Roman" panose="02020603050405020304" pitchFamily="18" charset="0"/>
              </a:rPr>
              <a:t>Average Score</a:t>
            </a:r>
          </a:p>
        </p:txBody>
      </p:sp>
      <p:sp>
        <p:nvSpPr>
          <p:cNvPr id="5" name="TextShape 2"/>
          <p:cNvSpPr txBox="1"/>
          <p:nvPr/>
        </p:nvSpPr>
        <p:spPr>
          <a:xfrm>
            <a:off x="152640" y="1120894"/>
            <a:ext cx="8838720" cy="4838571"/>
          </a:xfrm>
          <a:prstGeom prst="rect">
            <a:avLst/>
          </a:prstGeom>
          <a:noFill/>
          <a:ln w="9360">
            <a:noFill/>
          </a:ln>
        </p:spPr>
        <p:txBody>
          <a:bodyPr>
            <a:noAutofit/>
          </a:bodyPr>
          <a:lstStyle/>
          <a:p>
            <a:pPr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Measures overall response quality</a:t>
            </a:r>
          </a:p>
          <a:p>
            <a:pPr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Includes:</a:t>
            </a:r>
          </a:p>
          <a:p>
            <a:pPr marL="742950" lvl="1" indent="-285750"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Accuracy</a:t>
            </a:r>
          </a:p>
          <a:p>
            <a:pPr marL="742950" lvl="1" indent="-285750"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Clarity</a:t>
            </a:r>
          </a:p>
          <a:p>
            <a:pPr marL="742950" lvl="1" indent="-285750"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Relevance</a:t>
            </a:r>
          </a:p>
          <a:p>
            <a:pPr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Higher score → better structured responses</a:t>
            </a:r>
          </a:p>
          <a:p>
            <a:pPr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Some models perform better than others</a:t>
            </a:r>
          </a:p>
        </p:txBody>
      </p:sp>
      <p:pic>
        <p:nvPicPr>
          <p:cNvPr id="2" name="Picture 1">
            <a:extLst>
              <a:ext uri="{FF2B5EF4-FFF2-40B4-BE49-F238E27FC236}">
                <a16:creationId xmlns:a16="http://schemas.microsoft.com/office/drawing/2014/main" id="{CBF58B7F-9ACF-A307-CB25-77879FB625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6597" y="3250290"/>
            <a:ext cx="4438573" cy="3328930"/>
          </a:xfrm>
          <a:prstGeom prst="rect">
            <a:avLst/>
          </a:prstGeom>
        </p:spPr>
      </p:pic>
    </p:spTree>
    <p:extLst>
      <p:ext uri="{BB962C8B-B14F-4D97-AF65-F5344CB8AC3E}">
        <p14:creationId xmlns:p14="http://schemas.microsoft.com/office/powerpoint/2010/main" val="653351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b="1" i="0" dirty="0">
                <a:effectLst/>
                <a:latin typeface="Times New Roman" panose="02020603050405020304" pitchFamily="18" charset="0"/>
                <a:cs typeface="Times New Roman" panose="02020603050405020304" pitchFamily="18" charset="0"/>
              </a:rPr>
              <a:t> Limitations</a:t>
            </a:r>
          </a:p>
        </p:txBody>
      </p:sp>
      <p:sp>
        <p:nvSpPr>
          <p:cNvPr id="5" name="TextShape 2"/>
          <p:cNvSpPr txBox="1"/>
          <p:nvPr/>
        </p:nvSpPr>
        <p:spPr>
          <a:xfrm>
            <a:off x="152640" y="1120894"/>
            <a:ext cx="8838720" cy="4838571"/>
          </a:xfrm>
          <a:prstGeom prst="rect">
            <a:avLst/>
          </a:prstGeom>
          <a:noFill/>
          <a:ln w="9360">
            <a:noFill/>
          </a:ln>
        </p:spPr>
        <p:txBody>
          <a:bodyPr>
            <a:noAutofit/>
          </a:bodyPr>
          <a:lstStyle/>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Limited Contextual Understanding</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AI systems often rely on predefined safety rules and may lack deep ethical reasoning in complex situations.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Inconsistent Explanation Quality</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Some responses provide only brief refusals without detailed justification, reducing clarity for users.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Vulnerability to Prompt Variations</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Malicious users may bypass safety mechanisms through rephrasing or indirect queries.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Dependence on Training Data</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AI performance is influenced by dataset quality, which may still contain hidden biases.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Lack of Dynamic Ethical Reasoning</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Current systems focus more on risk avoidance rather than nuanced ethical decision-making.</a:t>
            </a:r>
          </a:p>
        </p:txBody>
      </p:sp>
    </p:spTree>
    <p:extLst>
      <p:ext uri="{BB962C8B-B14F-4D97-AF65-F5344CB8AC3E}">
        <p14:creationId xmlns:p14="http://schemas.microsoft.com/office/powerpoint/2010/main" val="2168314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b="1" i="0" dirty="0">
                <a:effectLst/>
                <a:latin typeface="Times New Roman" panose="02020603050405020304" pitchFamily="18" charset="0"/>
                <a:cs typeface="Times New Roman" panose="02020603050405020304" pitchFamily="18" charset="0"/>
              </a:rPr>
              <a:t>Conclusion</a:t>
            </a:r>
          </a:p>
        </p:txBody>
      </p:sp>
      <p:sp>
        <p:nvSpPr>
          <p:cNvPr id="5" name="TextShape 2"/>
          <p:cNvSpPr txBox="1"/>
          <p:nvPr/>
        </p:nvSpPr>
        <p:spPr>
          <a:xfrm>
            <a:off x="152640" y="1120894"/>
            <a:ext cx="8838720" cy="4838571"/>
          </a:xfrm>
          <a:prstGeom prst="rect">
            <a:avLst/>
          </a:prstGeom>
          <a:noFill/>
          <a:ln w="9360">
            <a:noFill/>
          </a:ln>
        </p:spPr>
        <p:txBody>
          <a:bodyPr>
            <a:noAutofit/>
          </a:bodyPr>
          <a:lstStyle/>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AI as a Transformative Technology</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Artificial Intelligence offers significant benefits but also introduces critical ethical and societal challenges.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Need for Structured Governance</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The study highlights the importance of implementing clear and enforceable governance mechanisms for AI systems.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Effectiveness of Current AI Systems</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Most AI systems demonstrate strong ethical compliance by rejecting harmful or unsafe requests.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Existing Gaps Identified</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Limitations in explanation quality and contextual reasoning indicate the need for further improvement. </a:t>
            </a:r>
          </a:p>
          <a:p>
            <a:pPr algn="l">
              <a:buFont typeface="Arial" panose="020B0604020202020204" pitchFamily="34" charset="0"/>
              <a:buChar char="•"/>
            </a:pPr>
            <a:r>
              <a:rPr lang="en-IN" sz="2000" b="1" i="0" dirty="0">
                <a:effectLst/>
                <a:latin typeface="Times New Roman" panose="02020603050405020304" pitchFamily="18" charset="0"/>
                <a:cs typeface="Times New Roman" panose="02020603050405020304" pitchFamily="18" charset="0"/>
              </a:rPr>
              <a:t>Role of AI Bylaws</a:t>
            </a:r>
            <a:br>
              <a:rPr lang="en-IN" sz="2000" b="0" i="0" dirty="0">
                <a:effectLst/>
                <a:latin typeface="Times New Roman" panose="02020603050405020304" pitchFamily="18" charset="0"/>
                <a:cs typeface="Times New Roman" panose="02020603050405020304" pitchFamily="18" charset="0"/>
              </a:rPr>
            </a:br>
            <a:r>
              <a:rPr lang="en-IN" sz="2000" b="0" i="0" dirty="0">
                <a:effectLst/>
                <a:latin typeface="Times New Roman" panose="02020603050405020304" pitchFamily="18" charset="0"/>
                <a:cs typeface="Times New Roman" panose="02020603050405020304" pitchFamily="18" charset="0"/>
              </a:rPr>
              <a:t>AI Bylaws provide a practical framework to ensure fairness, transparency, accountability, and prevention of misuse. </a:t>
            </a:r>
          </a:p>
          <a:p>
            <a:br>
              <a:rPr lang="en-IN" sz="2000" dirty="0">
                <a:latin typeface="Times New Roman" panose="02020603050405020304" pitchFamily="18" charset="0"/>
                <a:cs typeface="Times New Roman" panose="02020603050405020304" pitchFamily="18" charset="0"/>
              </a:rPr>
            </a:br>
            <a:endParaRPr lang="en-IN"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3999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r>
              <a:rPr lang="en-IN" sz="3200" b="1" i="0" dirty="0">
                <a:effectLst/>
                <a:latin typeface="Times New Roman" panose="02020603050405020304" pitchFamily="18" charset="0"/>
                <a:cs typeface="Times New Roman" panose="02020603050405020304" pitchFamily="18" charset="0"/>
              </a:rPr>
              <a:t>References</a:t>
            </a:r>
          </a:p>
        </p:txBody>
      </p:sp>
      <p:sp>
        <p:nvSpPr>
          <p:cNvPr id="5" name="TextShape 2"/>
          <p:cNvSpPr txBox="1"/>
          <p:nvPr/>
        </p:nvSpPr>
        <p:spPr>
          <a:xfrm>
            <a:off x="152640" y="1120894"/>
            <a:ext cx="8838720" cy="4838571"/>
          </a:xfrm>
          <a:prstGeom prst="rect">
            <a:avLst/>
          </a:prstGeom>
          <a:noFill/>
          <a:ln w="9360">
            <a:noFill/>
          </a:ln>
        </p:spPr>
        <p:txBody>
          <a:bodyPr>
            <a:noAutofit/>
          </a:bodyPr>
          <a:lstStyle/>
          <a:p>
            <a:pPr algn="l">
              <a:buFont typeface="Arial" panose="020B0604020202020204" pitchFamily="34" charset="0"/>
              <a:buChar char="•"/>
            </a:pPr>
            <a:r>
              <a:rPr lang="en-IN" sz="2000" b="0" i="0" dirty="0" err="1">
                <a:effectLst/>
                <a:latin typeface="Times New Roman" panose="02020603050405020304" pitchFamily="18" charset="0"/>
                <a:cs typeface="Times New Roman" panose="02020603050405020304" pitchFamily="18" charset="0"/>
              </a:rPr>
              <a:t>Floridi</a:t>
            </a:r>
            <a:r>
              <a:rPr lang="en-IN" sz="2000" b="0" i="0" dirty="0">
                <a:effectLst/>
                <a:latin typeface="Times New Roman" panose="02020603050405020304" pitchFamily="18" charset="0"/>
                <a:cs typeface="Times New Roman" panose="02020603050405020304" pitchFamily="18" charset="0"/>
              </a:rPr>
              <a:t>, L. et al. (2018). </a:t>
            </a:r>
            <a:r>
              <a:rPr lang="en-IN" sz="2000" b="0" i="1" dirty="0">
                <a:effectLst/>
                <a:latin typeface="Times New Roman" panose="02020603050405020304" pitchFamily="18" charset="0"/>
                <a:cs typeface="Times New Roman" panose="02020603050405020304" pitchFamily="18" charset="0"/>
              </a:rPr>
              <a:t>AI4People—An Ethical Framework for a Good AI Society.</a:t>
            </a:r>
            <a:endParaRPr lang="en-IN" sz="20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Jobin, A., </a:t>
            </a:r>
            <a:r>
              <a:rPr lang="en-IN" sz="2000" b="0" i="0" dirty="0" err="1">
                <a:effectLst/>
                <a:latin typeface="Times New Roman" panose="02020603050405020304" pitchFamily="18" charset="0"/>
                <a:cs typeface="Times New Roman" panose="02020603050405020304" pitchFamily="18" charset="0"/>
              </a:rPr>
              <a:t>Ienca</a:t>
            </a:r>
            <a:r>
              <a:rPr lang="en-IN" sz="2000" b="0" i="0" dirty="0">
                <a:effectLst/>
                <a:latin typeface="Times New Roman" panose="02020603050405020304" pitchFamily="18" charset="0"/>
                <a:cs typeface="Times New Roman" panose="02020603050405020304" pitchFamily="18" charset="0"/>
              </a:rPr>
              <a:t>, M., &amp; </a:t>
            </a:r>
            <a:r>
              <a:rPr lang="en-IN" sz="2000" b="0" i="0" dirty="0" err="1">
                <a:effectLst/>
                <a:latin typeface="Times New Roman" panose="02020603050405020304" pitchFamily="18" charset="0"/>
                <a:cs typeface="Times New Roman" panose="02020603050405020304" pitchFamily="18" charset="0"/>
              </a:rPr>
              <a:t>Vayena</a:t>
            </a:r>
            <a:r>
              <a:rPr lang="en-IN" sz="2000" b="0" i="0" dirty="0">
                <a:effectLst/>
                <a:latin typeface="Times New Roman" panose="02020603050405020304" pitchFamily="18" charset="0"/>
                <a:cs typeface="Times New Roman" panose="02020603050405020304" pitchFamily="18" charset="0"/>
              </a:rPr>
              <a:t>, E. (2019). </a:t>
            </a:r>
            <a:r>
              <a:rPr lang="en-IN" sz="2000" b="0" i="1" dirty="0">
                <a:effectLst/>
                <a:latin typeface="Times New Roman" panose="02020603050405020304" pitchFamily="18" charset="0"/>
                <a:cs typeface="Times New Roman" panose="02020603050405020304" pitchFamily="18" charset="0"/>
              </a:rPr>
              <a:t>The Global Landscape of AI Ethics Guidelines.</a:t>
            </a:r>
            <a:endParaRPr lang="en-IN" sz="20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OECD (2019). </a:t>
            </a:r>
            <a:r>
              <a:rPr lang="en-IN" sz="2000" b="0" i="1" dirty="0">
                <a:effectLst/>
                <a:latin typeface="Times New Roman" panose="02020603050405020304" pitchFamily="18" charset="0"/>
                <a:cs typeface="Times New Roman" panose="02020603050405020304" pitchFamily="18" charset="0"/>
              </a:rPr>
              <a:t>OECD Principles on Artificial Intelligence.</a:t>
            </a:r>
            <a:endParaRPr lang="en-IN" sz="20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UNESCO (2021). </a:t>
            </a:r>
            <a:r>
              <a:rPr lang="en-IN" sz="2000" b="0" i="1" dirty="0">
                <a:effectLst/>
                <a:latin typeface="Times New Roman" panose="02020603050405020304" pitchFamily="18" charset="0"/>
                <a:cs typeface="Times New Roman" panose="02020603050405020304" pitchFamily="18" charset="0"/>
              </a:rPr>
              <a:t>Recommendation on the Ethics of Artificial Intelligence.</a:t>
            </a:r>
            <a:endParaRPr lang="en-IN" sz="20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European Commission (2021). </a:t>
            </a:r>
            <a:r>
              <a:rPr lang="en-IN" sz="2000" b="0" i="1" dirty="0">
                <a:effectLst/>
                <a:latin typeface="Times New Roman" panose="02020603050405020304" pitchFamily="18" charset="0"/>
                <a:cs typeface="Times New Roman" panose="02020603050405020304" pitchFamily="18" charset="0"/>
              </a:rPr>
              <a:t>Proposal for a Regulation on Artificial Intelligence.</a:t>
            </a:r>
            <a:endParaRPr lang="en-IN" sz="20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000" b="0" i="0" dirty="0" err="1">
                <a:effectLst/>
                <a:latin typeface="Times New Roman" panose="02020603050405020304" pitchFamily="18" charset="0"/>
                <a:cs typeface="Times New Roman" panose="02020603050405020304" pitchFamily="18" charset="0"/>
              </a:rPr>
              <a:t>Mittelstadt</a:t>
            </a:r>
            <a:r>
              <a:rPr lang="en-IN" sz="2000" b="0" i="0" dirty="0">
                <a:effectLst/>
                <a:latin typeface="Times New Roman" panose="02020603050405020304" pitchFamily="18" charset="0"/>
                <a:cs typeface="Times New Roman" panose="02020603050405020304" pitchFamily="18" charset="0"/>
              </a:rPr>
              <a:t>, B. et al. (2016). </a:t>
            </a:r>
            <a:r>
              <a:rPr lang="en-IN" sz="2000" b="0" i="1" dirty="0">
                <a:effectLst/>
                <a:latin typeface="Times New Roman" panose="02020603050405020304" pitchFamily="18" charset="0"/>
                <a:cs typeface="Times New Roman" panose="02020603050405020304" pitchFamily="18" charset="0"/>
              </a:rPr>
              <a:t>The Ethics of Algorithms: Mapping the Debate.</a:t>
            </a:r>
            <a:endParaRPr lang="en-IN" sz="20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Leslie, D. (2019). </a:t>
            </a:r>
            <a:r>
              <a:rPr lang="en-IN" sz="2000" b="0" i="1" dirty="0">
                <a:effectLst/>
                <a:latin typeface="Times New Roman" panose="02020603050405020304" pitchFamily="18" charset="0"/>
                <a:cs typeface="Times New Roman" panose="02020603050405020304" pitchFamily="18" charset="0"/>
              </a:rPr>
              <a:t>Understanding AI Ethics and Safety.</a:t>
            </a:r>
            <a:endParaRPr lang="en-IN" sz="20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000" b="0" i="0" dirty="0">
                <a:effectLst/>
                <a:latin typeface="Times New Roman" panose="02020603050405020304" pitchFamily="18" charset="0"/>
                <a:cs typeface="Times New Roman" panose="02020603050405020304" pitchFamily="18" charset="0"/>
              </a:rPr>
              <a:t>Whittaker, M. et al. (2018). </a:t>
            </a:r>
            <a:r>
              <a:rPr lang="en-IN" sz="2000" b="0" i="1" dirty="0">
                <a:effectLst/>
                <a:latin typeface="Times New Roman" panose="02020603050405020304" pitchFamily="18" charset="0"/>
                <a:cs typeface="Times New Roman" panose="02020603050405020304" pitchFamily="18" charset="0"/>
              </a:rPr>
              <a:t>AI Now Report.</a:t>
            </a:r>
            <a:endParaRPr lang="en-IN" sz="20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8612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16</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37ED6F0-5E4C-4CD0-9B68-9C53F925A6F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46728</TotalTime>
  <Words>1414</Words>
  <Application>Microsoft Macintosh PowerPoint</Application>
  <PresentationFormat>On-screen Show (4:3)</PresentationFormat>
  <Paragraphs>128</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-apple-system-body</vt:lpstr>
      <vt:lpstr>Arial</vt:lpstr>
      <vt:lpstr>Calibri</vt:lpstr>
      <vt:lpstr>Times New Roman</vt:lpstr>
      <vt:lpstr>ui-sans-serif</vt:lpstr>
      <vt:lpstr>Office Theme</vt:lpstr>
      <vt:lpstr>PowerPoint Presentation</vt:lpstr>
      <vt:lpstr>Index</vt:lpstr>
      <vt:lpstr>PowerPoint Presentation</vt:lpstr>
      <vt:lpstr>PowerPoint Presentation</vt:lpstr>
      <vt:lpstr>Objectives</vt:lpstr>
      <vt:lpstr>PowerPoint Presentation</vt:lpstr>
      <vt:lpstr>PowerPoint Presentation</vt:lpstr>
      <vt:lpstr>PowerPoint Presentation</vt:lpstr>
      <vt:lpstr>Data Set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Keshav Mittal</cp:lastModifiedBy>
  <cp:revision>2298</cp:revision>
  <dcterms:created xsi:type="dcterms:W3CDTF">2010-04-09T07:36:15Z</dcterms:created>
  <dcterms:modified xsi:type="dcterms:W3CDTF">2026-05-07T17:27:15Z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